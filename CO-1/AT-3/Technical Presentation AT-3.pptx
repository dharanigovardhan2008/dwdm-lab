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useo Moderno Bold" charset="1" panose="00000000000000000000"/>
      <p:regular r:id="rId13"/>
    </p:embeddedFont>
    <p:embeddedFont>
      <p:font typeface="Poppins" charset="1" panose="00000500000000000000"/>
      <p:regular r:id="rId14"/>
    </p:embeddedFont>
    <p:embeddedFont>
      <p:font typeface="Poppins Bold" charset="1" panose="000008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977180">
            <a:off x="12249266" y="-269294"/>
            <a:ext cx="12791303" cy="9442304"/>
            <a:chOff x="0" y="0"/>
            <a:chExt cx="17055071" cy="125897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55085" cy="12589764"/>
            </a:xfrm>
            <a:custGeom>
              <a:avLst/>
              <a:gdLst/>
              <a:ahLst/>
              <a:cxnLst/>
              <a:rect r="r" b="b" t="t" l="l"/>
              <a:pathLst>
                <a:path h="12589764" w="17055085">
                  <a:moveTo>
                    <a:pt x="0" y="0"/>
                  </a:moveTo>
                  <a:lnTo>
                    <a:pt x="17055085" y="0"/>
                  </a:lnTo>
                  <a:lnTo>
                    <a:pt x="17055085" y="12589764"/>
                  </a:lnTo>
                  <a:lnTo>
                    <a:pt x="0" y="12589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1999"/>
              </a:blip>
              <a:stretch>
                <a:fillRect l="0" t="-32" r="0" b="-3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659540">
            <a:off x="-1466088" y="-1104128"/>
            <a:ext cx="6017762" cy="3599717"/>
            <a:chOff x="0" y="0"/>
            <a:chExt cx="8023682" cy="47996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023733" cy="4799584"/>
            </a:xfrm>
            <a:custGeom>
              <a:avLst/>
              <a:gdLst/>
              <a:ahLst/>
              <a:cxnLst/>
              <a:rect r="r" b="b" t="t" l="l"/>
              <a:pathLst>
                <a:path h="4799584" w="8023733">
                  <a:moveTo>
                    <a:pt x="0" y="0"/>
                  </a:moveTo>
                  <a:lnTo>
                    <a:pt x="8023733" y="0"/>
                  </a:lnTo>
                  <a:lnTo>
                    <a:pt x="8023733" y="4799584"/>
                  </a:lnTo>
                  <a:lnTo>
                    <a:pt x="0" y="4799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2000"/>
              </a:blip>
              <a:stretch>
                <a:fillRect l="0" t="-59" r="0" b="-6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924020" y="5188963"/>
            <a:ext cx="4716980" cy="6251419"/>
          </a:xfrm>
          <a:custGeom>
            <a:avLst/>
            <a:gdLst/>
            <a:ahLst/>
            <a:cxnLst/>
            <a:rect r="r" b="b" t="t" l="l"/>
            <a:pathLst>
              <a:path h="6251419" w="4716980">
                <a:moveTo>
                  <a:pt x="0" y="0"/>
                </a:moveTo>
                <a:lnTo>
                  <a:pt x="4716980" y="0"/>
                </a:lnTo>
                <a:lnTo>
                  <a:pt x="4716980" y="6251419"/>
                </a:lnTo>
                <a:lnTo>
                  <a:pt x="0" y="6251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6" t="0" r="-26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3349" y="2988310"/>
            <a:ext cx="16707574" cy="4688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0"/>
              </a:lnSpc>
            </a:pPr>
            <a:r>
              <a:rPr lang="en-US" b="true" sz="8900" spc="-418">
                <a:solidFill>
                  <a:srgbClr val="424242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How                    Uses Data Warehousing to Make Smart Business Decisions ?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256293" y="1028700"/>
            <a:ext cx="11775415" cy="1455039"/>
            <a:chOff x="0" y="0"/>
            <a:chExt cx="15700553" cy="19400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700502" cy="1940052"/>
            </a:xfrm>
            <a:custGeom>
              <a:avLst/>
              <a:gdLst/>
              <a:ahLst/>
              <a:cxnLst/>
              <a:rect r="r" b="b" t="t" l="l"/>
              <a:pathLst>
                <a:path h="1940052" w="15700502">
                  <a:moveTo>
                    <a:pt x="0" y="0"/>
                  </a:moveTo>
                  <a:lnTo>
                    <a:pt x="15700502" y="0"/>
                  </a:lnTo>
                  <a:lnTo>
                    <a:pt x="15700502" y="1940052"/>
                  </a:lnTo>
                  <a:lnTo>
                    <a:pt x="0" y="19400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333" r="0" b="-2333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4622681" y="2747610"/>
            <a:ext cx="5531407" cy="2441352"/>
          </a:xfrm>
          <a:custGeom>
            <a:avLst/>
            <a:gdLst/>
            <a:ahLst/>
            <a:cxnLst/>
            <a:rect r="r" b="b" t="t" l="l"/>
            <a:pathLst>
              <a:path h="2441352" w="5531407">
                <a:moveTo>
                  <a:pt x="0" y="0"/>
                </a:moveTo>
                <a:lnTo>
                  <a:pt x="5531407" y="0"/>
                </a:lnTo>
                <a:lnTo>
                  <a:pt x="5531407" y="2441353"/>
                </a:lnTo>
                <a:lnTo>
                  <a:pt x="0" y="24413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700000">
            <a:off x="-2476986" y="5144033"/>
            <a:ext cx="9290533" cy="6858095"/>
            <a:chOff x="0" y="0"/>
            <a:chExt cx="12387377" cy="9144127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2387326" cy="9144127"/>
            </a:xfrm>
            <a:custGeom>
              <a:avLst/>
              <a:gdLst/>
              <a:ahLst/>
              <a:cxnLst/>
              <a:rect r="r" b="b" t="t" l="l"/>
              <a:pathLst>
                <a:path h="9144127" w="12387326">
                  <a:moveTo>
                    <a:pt x="12387326" y="0"/>
                  </a:moveTo>
                  <a:lnTo>
                    <a:pt x="0" y="0"/>
                  </a:lnTo>
                  <a:lnTo>
                    <a:pt x="0" y="9144127"/>
                  </a:lnTo>
                  <a:lnTo>
                    <a:pt x="12387326" y="9144127"/>
                  </a:lnTo>
                  <a:lnTo>
                    <a:pt x="12387326" y="0"/>
                  </a:ln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0" t="-32" r="0" b="-3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454305" y="920201"/>
            <a:ext cx="8869861" cy="8529866"/>
          </a:xfrm>
          <a:custGeom>
            <a:avLst/>
            <a:gdLst/>
            <a:ahLst/>
            <a:cxnLst/>
            <a:rect r="r" b="b" t="t" l="l"/>
            <a:pathLst>
              <a:path h="8529866" w="8869861">
                <a:moveTo>
                  <a:pt x="0" y="0"/>
                </a:moveTo>
                <a:lnTo>
                  <a:pt x="8869861" y="0"/>
                </a:lnTo>
                <a:lnTo>
                  <a:pt x="8869861" y="8529866"/>
                </a:lnTo>
                <a:lnTo>
                  <a:pt x="0" y="85298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46275" y="1746131"/>
            <a:ext cx="7685923" cy="7066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424242"/>
                </a:solidFill>
                <a:latin typeface="Poppins"/>
                <a:ea typeface="Poppins"/>
                <a:cs typeface="Poppins"/>
                <a:sym typeface="Poppins"/>
              </a:rPr>
              <a:t>Amazon proc</a:t>
            </a:r>
            <a:r>
              <a:rPr lang="en-US" sz="2499" spc="-114">
                <a:solidFill>
                  <a:srgbClr val="424242"/>
                </a:solidFill>
                <a:latin typeface="Poppins"/>
                <a:ea typeface="Poppins"/>
                <a:cs typeface="Poppins"/>
                <a:sym typeface="Poppins"/>
              </a:rPr>
              <a:t>esses millions of orders, payments, deliveries, and customer reviews every day.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424242"/>
                </a:solidFill>
                <a:latin typeface="Poppins"/>
                <a:ea typeface="Poppins"/>
                <a:cs typeface="Poppins"/>
                <a:sym typeface="Poppins"/>
              </a:rPr>
              <a:t>This data is generated from multiple systems such as sales, inventory, customers, and logistics.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424242"/>
                </a:solidFill>
                <a:latin typeface="Poppins"/>
                <a:ea typeface="Poppins"/>
                <a:cs typeface="Poppins"/>
                <a:sym typeface="Poppins"/>
              </a:rPr>
              <a:t>Managing data separately makes analysis and decision-making difficult.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14">
                <a:solidFill>
                  <a:srgbClr val="424242"/>
                </a:solidFill>
                <a:latin typeface="Poppins"/>
                <a:ea typeface="Poppins"/>
                <a:cs typeface="Poppins"/>
                <a:sym typeface="Poppins"/>
              </a:rPr>
              <a:t>A Data Warehouse integrates data from different sources into a centralized repository.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500"/>
              </a:lnSpc>
              <a:buFont typeface="Arial"/>
              <a:buChar char="•"/>
            </a:pPr>
            <a:r>
              <a:rPr lang="en-US" sz="2499" spc="-116">
                <a:solidFill>
                  <a:srgbClr val="424242"/>
                </a:solidFill>
                <a:latin typeface="Poppins"/>
                <a:ea typeface="Poppins"/>
                <a:cs typeface="Poppins"/>
                <a:sym typeface="Poppins"/>
              </a:rPr>
              <a:t>Bus</a:t>
            </a:r>
            <a:r>
              <a:rPr lang="en-US" sz="2499" spc="-116">
                <a:solidFill>
                  <a:srgbClr val="424242"/>
                </a:solidFill>
                <a:latin typeface="Poppins"/>
                <a:ea typeface="Poppins"/>
                <a:cs typeface="Poppins"/>
                <a:sym typeface="Poppins"/>
              </a:rPr>
              <a:t>iness Intelligence (BI) and OLAP help Amazon analyze data and make faster, data-driven decisions.</a:t>
            </a:r>
          </a:p>
          <a:p>
            <a:pPr algn="l">
              <a:lnSpc>
                <a:spcPts val="4317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2700000">
            <a:off x="12614034" y="-2711968"/>
            <a:ext cx="9290533" cy="6858095"/>
            <a:chOff x="0" y="0"/>
            <a:chExt cx="12387377" cy="9144127"/>
          </a:xfrm>
        </p:grpSpPr>
        <p:sp>
          <p:nvSpPr>
            <p:cNvPr name="Freeform 7" id="7"/>
            <p:cNvSpPr/>
            <p:nvPr/>
          </p:nvSpPr>
          <p:spPr>
            <a:xfrm flipH="true" flipV="false" rot="0">
              <a:off x="0" y="0"/>
              <a:ext cx="12387326" cy="9144127"/>
            </a:xfrm>
            <a:custGeom>
              <a:avLst/>
              <a:gdLst/>
              <a:ahLst/>
              <a:cxnLst/>
              <a:rect r="r" b="b" t="t" l="l"/>
              <a:pathLst>
                <a:path h="9144127" w="12387326">
                  <a:moveTo>
                    <a:pt x="12387326" y="0"/>
                  </a:moveTo>
                  <a:lnTo>
                    <a:pt x="0" y="0"/>
                  </a:lnTo>
                  <a:lnTo>
                    <a:pt x="0" y="9144127"/>
                  </a:lnTo>
                  <a:lnTo>
                    <a:pt x="12387326" y="9144127"/>
                  </a:lnTo>
                  <a:lnTo>
                    <a:pt x="12387326" y="0"/>
                  </a:ln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0" t="-32" r="0" b="-32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820728" y="2594841"/>
            <a:ext cx="5128106" cy="7692159"/>
          </a:xfrm>
          <a:custGeom>
            <a:avLst/>
            <a:gdLst/>
            <a:ahLst/>
            <a:cxnLst/>
            <a:rect r="r" b="b" t="t" l="l"/>
            <a:pathLst>
              <a:path h="7692159" w="5128106">
                <a:moveTo>
                  <a:pt x="0" y="0"/>
                </a:moveTo>
                <a:lnTo>
                  <a:pt x="5128106" y="0"/>
                </a:lnTo>
                <a:lnTo>
                  <a:pt x="5128106" y="7692159"/>
                </a:lnTo>
                <a:lnTo>
                  <a:pt x="0" y="76921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29875" y="1193330"/>
            <a:ext cx="7603322" cy="1009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12"/>
              </a:lnSpc>
            </a:pPr>
            <a:r>
              <a:rPr lang="en-US" b="true" sz="9800" spc="-460">
                <a:solidFill>
                  <a:srgbClr val="424242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977180">
            <a:off x="8302123" y="-801033"/>
            <a:ext cx="12791303" cy="9442304"/>
            <a:chOff x="0" y="0"/>
            <a:chExt cx="17055071" cy="125897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55085" cy="12589764"/>
            </a:xfrm>
            <a:custGeom>
              <a:avLst/>
              <a:gdLst/>
              <a:ahLst/>
              <a:cxnLst/>
              <a:rect r="r" b="b" t="t" l="l"/>
              <a:pathLst>
                <a:path h="12589764" w="17055085">
                  <a:moveTo>
                    <a:pt x="0" y="0"/>
                  </a:moveTo>
                  <a:lnTo>
                    <a:pt x="17055085" y="0"/>
                  </a:lnTo>
                  <a:lnTo>
                    <a:pt x="17055085" y="12589764"/>
                  </a:lnTo>
                  <a:lnTo>
                    <a:pt x="0" y="12589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-32" r="0" b="-3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26382" y="2469288"/>
            <a:ext cx="4728029" cy="6789012"/>
            <a:chOff x="0" y="0"/>
            <a:chExt cx="13665617" cy="196225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665617" cy="19622562"/>
            </a:xfrm>
            <a:custGeom>
              <a:avLst/>
              <a:gdLst/>
              <a:ahLst/>
              <a:cxnLst/>
              <a:rect r="r" b="b" t="t" l="l"/>
              <a:pathLst>
                <a:path h="19622562" w="13665617">
                  <a:moveTo>
                    <a:pt x="13665617" y="328686"/>
                  </a:moveTo>
                  <a:lnTo>
                    <a:pt x="13665617" y="19293875"/>
                  </a:lnTo>
                  <a:cubicBezTo>
                    <a:pt x="13665617" y="19475475"/>
                    <a:pt x="13518966" y="19622562"/>
                    <a:pt x="13337904" y="19622562"/>
                  </a:cubicBezTo>
                  <a:lnTo>
                    <a:pt x="327713" y="19622562"/>
                  </a:lnTo>
                  <a:cubicBezTo>
                    <a:pt x="146651" y="19622562"/>
                    <a:pt x="0" y="19475475"/>
                    <a:pt x="0" y="19293875"/>
                  </a:cubicBezTo>
                  <a:lnTo>
                    <a:pt x="0" y="328686"/>
                  </a:lnTo>
                  <a:cubicBezTo>
                    <a:pt x="0" y="147087"/>
                    <a:pt x="146651" y="0"/>
                    <a:pt x="327713" y="0"/>
                  </a:cubicBezTo>
                  <a:lnTo>
                    <a:pt x="13337904" y="0"/>
                  </a:lnTo>
                  <a:cubicBezTo>
                    <a:pt x="13518966" y="0"/>
                    <a:pt x="13665617" y="147087"/>
                    <a:pt x="13665617" y="328686"/>
                  </a:cubicBezTo>
                  <a:close/>
                </a:path>
              </a:pathLst>
            </a:custGeom>
            <a:blipFill>
              <a:blip r:embed="rId3"/>
              <a:stretch>
                <a:fillRect l="0" t="-2231" r="0" b="-223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593021" y="409601"/>
            <a:ext cx="17715431" cy="1483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0"/>
              </a:lnSpc>
            </a:pPr>
            <a:r>
              <a:rPr lang="en-US" sz="6000" spc="-281" b="true">
                <a:solidFill>
                  <a:srgbClr val="424242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Operational System vs Decision Support System (Amazon Scenario)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6162" y="2354988"/>
            <a:ext cx="10082222" cy="8366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4359" indent="-297179" lvl="1">
              <a:lnSpc>
                <a:spcPts val="4141"/>
              </a:lnSpc>
              <a:buFont typeface="Arial"/>
              <a:buChar char="•"/>
            </a:pPr>
            <a:r>
              <a:rPr lang="en-US" sz="2599" spc="-119">
                <a:solidFill>
                  <a:srgbClr val="424242"/>
                </a:solidFill>
                <a:latin typeface="Poppins"/>
                <a:ea typeface="Poppins"/>
                <a:cs typeface="Poppins"/>
                <a:sym typeface="Poppins"/>
              </a:rPr>
              <a:t>Operational System (OLTP): Handles daily operations such as customer orders, p</a:t>
            </a:r>
            <a:r>
              <a:rPr lang="en-US" sz="2599" spc="-119">
                <a:solidFill>
                  <a:srgbClr val="424242"/>
                </a:solidFill>
                <a:latin typeface="Poppins"/>
                <a:ea typeface="Poppins"/>
                <a:cs typeface="Poppins"/>
                <a:sym typeface="Poppins"/>
              </a:rPr>
              <a:t>ayments, inventory updates, and deliveries in real time.</a:t>
            </a:r>
          </a:p>
          <a:p>
            <a:pPr algn="l">
              <a:lnSpc>
                <a:spcPts val="4141"/>
              </a:lnSpc>
            </a:pPr>
          </a:p>
          <a:p>
            <a:pPr algn="l" marL="594359" indent="-297179" lvl="1">
              <a:lnSpc>
                <a:spcPts val="4141"/>
              </a:lnSpc>
              <a:buFont typeface="Arial"/>
              <a:buChar char="•"/>
            </a:pPr>
            <a:r>
              <a:rPr lang="en-US" sz="2599" spc="-119">
                <a:solidFill>
                  <a:srgbClr val="424242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599" spc="-119">
                <a:solidFill>
                  <a:srgbClr val="424242"/>
                </a:solidFill>
                <a:latin typeface="Poppins"/>
                <a:ea typeface="Poppins"/>
                <a:cs typeface="Poppins"/>
                <a:sym typeface="Poppins"/>
              </a:rPr>
              <a:t>ecision Support System (DSS): Analyzes historical data to identify sales trends, customer preferences, and future demand.</a:t>
            </a:r>
          </a:p>
          <a:p>
            <a:pPr algn="l">
              <a:lnSpc>
                <a:spcPts val="4141"/>
              </a:lnSpc>
            </a:pPr>
          </a:p>
          <a:p>
            <a:pPr algn="l" marL="594359" indent="-297179" lvl="1">
              <a:lnSpc>
                <a:spcPts val="4141"/>
              </a:lnSpc>
              <a:buFont typeface="Arial"/>
              <a:buChar char="•"/>
            </a:pPr>
            <a:r>
              <a:rPr lang="en-US" sz="2599" spc="-119">
                <a:solidFill>
                  <a:srgbClr val="424242"/>
                </a:solidFill>
                <a:latin typeface="Poppins"/>
                <a:ea typeface="Poppins"/>
                <a:cs typeface="Poppins"/>
                <a:sym typeface="Poppins"/>
              </a:rPr>
              <a:t>Amazon Example: After every order is completed, the transaction data is stored in the Data Warehouse for analysis.</a:t>
            </a:r>
          </a:p>
          <a:p>
            <a:pPr algn="l">
              <a:lnSpc>
                <a:spcPts val="4141"/>
              </a:lnSpc>
            </a:pPr>
          </a:p>
          <a:p>
            <a:pPr algn="l" marL="594359" indent="-297179" lvl="1">
              <a:lnSpc>
                <a:spcPts val="4141"/>
              </a:lnSpc>
              <a:buFont typeface="Arial"/>
              <a:buChar char="•"/>
            </a:pPr>
            <a:r>
              <a:rPr lang="en-US" sz="2599" spc="-119">
                <a:solidFill>
                  <a:srgbClr val="424242"/>
                </a:solidFill>
                <a:latin typeface="Poppins"/>
                <a:ea typeface="Poppins"/>
                <a:cs typeface="Poppins"/>
                <a:sym typeface="Poppins"/>
              </a:rPr>
              <a:t>Business Benefit: Managers use reports and dashboards to make better decisions on inventory, pricing, and upcoming sales events.</a:t>
            </a:r>
          </a:p>
          <a:p>
            <a:pPr algn="l">
              <a:lnSpc>
                <a:spcPts val="4141"/>
              </a:lnSpc>
            </a:pPr>
          </a:p>
          <a:p>
            <a:pPr algn="l">
              <a:lnSpc>
                <a:spcPts val="4141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977180">
            <a:off x="8302123" y="-801033"/>
            <a:ext cx="12791303" cy="9442304"/>
            <a:chOff x="0" y="0"/>
            <a:chExt cx="17055071" cy="125897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55085" cy="12589764"/>
            </a:xfrm>
            <a:custGeom>
              <a:avLst/>
              <a:gdLst/>
              <a:ahLst/>
              <a:cxnLst/>
              <a:rect r="r" b="b" t="t" l="l"/>
              <a:pathLst>
                <a:path h="12589764" w="17055085">
                  <a:moveTo>
                    <a:pt x="0" y="0"/>
                  </a:moveTo>
                  <a:lnTo>
                    <a:pt x="17055085" y="0"/>
                  </a:lnTo>
                  <a:lnTo>
                    <a:pt x="17055085" y="12589764"/>
                  </a:lnTo>
                  <a:lnTo>
                    <a:pt x="0" y="12589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-32" r="0" b="-3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567772" y="759348"/>
            <a:ext cx="13649868" cy="9099912"/>
          </a:xfrm>
          <a:custGeom>
            <a:avLst/>
            <a:gdLst/>
            <a:ahLst/>
            <a:cxnLst/>
            <a:rect r="r" b="b" t="t" l="l"/>
            <a:pathLst>
              <a:path h="9099912" w="13649868">
                <a:moveTo>
                  <a:pt x="0" y="0"/>
                </a:moveTo>
                <a:lnTo>
                  <a:pt x="13649868" y="0"/>
                </a:lnTo>
                <a:lnTo>
                  <a:pt x="13649868" y="9099912"/>
                </a:lnTo>
                <a:lnTo>
                  <a:pt x="0" y="90999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977180">
            <a:off x="8425815" y="-862879"/>
            <a:ext cx="12791303" cy="9442304"/>
            <a:chOff x="0" y="0"/>
            <a:chExt cx="17055071" cy="125897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55085" cy="12589764"/>
            </a:xfrm>
            <a:custGeom>
              <a:avLst/>
              <a:gdLst/>
              <a:ahLst/>
              <a:cxnLst/>
              <a:rect r="r" b="b" t="t" l="l"/>
              <a:pathLst>
                <a:path h="12589764" w="17055085">
                  <a:moveTo>
                    <a:pt x="0" y="0"/>
                  </a:moveTo>
                  <a:lnTo>
                    <a:pt x="17055085" y="0"/>
                  </a:lnTo>
                  <a:lnTo>
                    <a:pt x="17055085" y="12589764"/>
                  </a:lnTo>
                  <a:lnTo>
                    <a:pt x="0" y="12589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-32" r="0" b="-3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964622" y="845143"/>
            <a:ext cx="5294678" cy="8880269"/>
            <a:chOff x="0" y="0"/>
            <a:chExt cx="13962256" cy="234175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962256" cy="23417589"/>
            </a:xfrm>
            <a:custGeom>
              <a:avLst/>
              <a:gdLst/>
              <a:ahLst/>
              <a:cxnLst/>
              <a:rect r="r" b="b" t="t" l="l"/>
              <a:pathLst>
                <a:path h="23417589" w="13962256">
                  <a:moveTo>
                    <a:pt x="13962256" y="392254"/>
                  </a:moveTo>
                  <a:lnTo>
                    <a:pt x="13962256" y="23025334"/>
                  </a:lnTo>
                  <a:cubicBezTo>
                    <a:pt x="13962256" y="23242056"/>
                    <a:pt x="13812422" y="23417589"/>
                    <a:pt x="13627430" y="23417589"/>
                  </a:cubicBezTo>
                  <a:lnTo>
                    <a:pt x="334826" y="23417589"/>
                  </a:lnTo>
                  <a:cubicBezTo>
                    <a:pt x="149835" y="23417589"/>
                    <a:pt x="0" y="23242056"/>
                    <a:pt x="0" y="23025334"/>
                  </a:cubicBezTo>
                  <a:lnTo>
                    <a:pt x="0" y="392254"/>
                  </a:lnTo>
                  <a:cubicBezTo>
                    <a:pt x="0" y="175534"/>
                    <a:pt x="149835" y="0"/>
                    <a:pt x="334826" y="0"/>
                  </a:cubicBezTo>
                  <a:lnTo>
                    <a:pt x="13627430" y="0"/>
                  </a:lnTo>
                  <a:cubicBezTo>
                    <a:pt x="13812422" y="0"/>
                    <a:pt x="13962256" y="175534"/>
                    <a:pt x="13962256" y="392254"/>
                  </a:cubicBezTo>
                  <a:close/>
                </a:path>
              </a:pathLst>
            </a:custGeom>
            <a:blipFill>
              <a:blip r:embed="rId3"/>
              <a:stretch>
                <a:fillRect l="-5906" t="0" r="-5906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518481" y="395522"/>
            <a:ext cx="13191196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0"/>
              </a:lnSpc>
            </a:pPr>
            <a:r>
              <a:rPr lang="en-US" b="true" sz="7500" spc="-351">
                <a:solidFill>
                  <a:srgbClr val="424242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Amazon</a:t>
            </a:r>
            <a:r>
              <a:rPr lang="en-US" b="true" sz="7500" spc="-351">
                <a:solidFill>
                  <a:srgbClr val="424242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 Data Warehouse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1257" y="2646647"/>
            <a:ext cx="8952743" cy="668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2711" indent="-220904" lvl="2">
              <a:lnSpc>
                <a:spcPts val="4058"/>
              </a:lnSpc>
              <a:buFont typeface="Arial"/>
              <a:buChar char="⚬"/>
            </a:pPr>
            <a:r>
              <a:rPr lang="en-US" sz="2898" spc="-133">
                <a:solidFill>
                  <a:srgbClr val="424242"/>
                </a:solidFill>
                <a:latin typeface="Poppins"/>
                <a:ea typeface="Poppins"/>
                <a:cs typeface="Poppins"/>
                <a:sym typeface="Poppins"/>
              </a:rPr>
              <a:t>Data Sources: Customer orders, payments, inventory, de</a:t>
            </a:r>
            <a:r>
              <a:rPr lang="en-US" sz="2898" spc="-133">
                <a:solidFill>
                  <a:srgbClr val="424242"/>
                </a:solidFill>
                <a:latin typeface="Poppins"/>
                <a:ea typeface="Poppins"/>
                <a:cs typeface="Poppins"/>
                <a:sym typeface="Poppins"/>
              </a:rPr>
              <a:t>liveries, and reviews are collected from multiple operational systems.</a:t>
            </a:r>
          </a:p>
          <a:p>
            <a:pPr algn="l" marL="662711" indent="-220904" lvl="2">
              <a:lnSpc>
                <a:spcPts val="4058"/>
              </a:lnSpc>
              <a:buFont typeface="Arial"/>
              <a:buChar char="⚬"/>
            </a:pPr>
            <a:r>
              <a:rPr lang="en-US" sz="2898" spc="-133">
                <a:solidFill>
                  <a:srgbClr val="424242"/>
                </a:solidFill>
                <a:latin typeface="Poppins"/>
                <a:ea typeface="Poppins"/>
                <a:cs typeface="Poppins"/>
                <a:sym typeface="Poppins"/>
              </a:rPr>
              <a:t>ETL Pro</a:t>
            </a:r>
            <a:r>
              <a:rPr lang="en-US" sz="2898" spc="-133">
                <a:solidFill>
                  <a:srgbClr val="424242"/>
                </a:solidFill>
                <a:latin typeface="Poppins"/>
                <a:ea typeface="Poppins"/>
                <a:cs typeface="Poppins"/>
                <a:sym typeface="Poppins"/>
              </a:rPr>
              <a:t>cess: Data is Extracted, Transformed, and Loaded into a centralized Data Warehouse after cleaning and validation.</a:t>
            </a:r>
          </a:p>
          <a:p>
            <a:pPr algn="l" marL="662711" indent="-220904" lvl="2">
              <a:lnSpc>
                <a:spcPts val="4058"/>
              </a:lnSpc>
              <a:buFont typeface="Arial"/>
              <a:buChar char="⚬"/>
            </a:pPr>
            <a:r>
              <a:rPr lang="en-US" sz="2898" spc="-133">
                <a:solidFill>
                  <a:srgbClr val="424242"/>
                </a:solidFill>
                <a:latin typeface="Poppins"/>
                <a:ea typeface="Poppins"/>
                <a:cs typeface="Poppins"/>
                <a:sym typeface="Poppins"/>
              </a:rPr>
              <a:t>Cent</a:t>
            </a:r>
            <a:r>
              <a:rPr lang="en-US" sz="2898" spc="-133">
                <a:solidFill>
                  <a:srgbClr val="424242"/>
                </a:solidFill>
                <a:latin typeface="Poppins"/>
                <a:ea typeface="Poppins"/>
                <a:cs typeface="Poppins"/>
                <a:sym typeface="Poppins"/>
              </a:rPr>
              <a:t>ral Data Warehouse: Stores integrated, historical, and consistent data for long-term analysis.</a:t>
            </a:r>
          </a:p>
          <a:p>
            <a:pPr algn="l" marL="662711" indent="-220904" lvl="2">
              <a:lnSpc>
                <a:spcPts val="4058"/>
              </a:lnSpc>
              <a:buFont typeface="Arial"/>
              <a:buChar char="⚬"/>
            </a:pPr>
            <a:r>
              <a:rPr lang="en-US" sz="2898" spc="-133">
                <a:solidFill>
                  <a:srgbClr val="424242"/>
                </a:solidFill>
                <a:latin typeface="Poppins"/>
                <a:ea typeface="Poppins"/>
                <a:cs typeface="Poppins"/>
                <a:sym typeface="Poppins"/>
              </a:rPr>
              <a:t>Bus</a:t>
            </a:r>
            <a:r>
              <a:rPr lang="en-US" sz="2898" spc="-133">
                <a:solidFill>
                  <a:srgbClr val="424242"/>
                </a:solidFill>
                <a:latin typeface="Poppins"/>
                <a:ea typeface="Poppins"/>
                <a:cs typeface="Poppins"/>
                <a:sym typeface="Poppins"/>
              </a:rPr>
              <a:t>iness Intelligence: OLAP, dashboards, and reports help Amazon analyze trends and make smarter business decisions.</a:t>
            </a:r>
          </a:p>
          <a:p>
            <a:pPr algn="l" marL="662818" indent="-220939" lvl="2">
              <a:lnSpc>
                <a:spcPts val="4059"/>
              </a:lnSpc>
              <a:buFont typeface="Arial"/>
              <a:buChar char="⚬"/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977180">
            <a:off x="8425815" y="-862879"/>
            <a:ext cx="12791303" cy="9442304"/>
            <a:chOff x="0" y="0"/>
            <a:chExt cx="17055071" cy="125897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55085" cy="12589764"/>
            </a:xfrm>
            <a:custGeom>
              <a:avLst/>
              <a:gdLst/>
              <a:ahLst/>
              <a:cxnLst/>
              <a:rect r="r" b="b" t="t" l="l"/>
              <a:pathLst>
                <a:path h="12589764" w="17055085">
                  <a:moveTo>
                    <a:pt x="0" y="0"/>
                  </a:moveTo>
                  <a:lnTo>
                    <a:pt x="17055085" y="0"/>
                  </a:lnTo>
                  <a:lnTo>
                    <a:pt x="17055085" y="12589764"/>
                  </a:lnTo>
                  <a:lnTo>
                    <a:pt x="0" y="12589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-32" r="0" b="-3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964622" y="845143"/>
            <a:ext cx="5294678" cy="8880269"/>
            <a:chOff x="0" y="0"/>
            <a:chExt cx="13962256" cy="234175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962256" cy="23417589"/>
            </a:xfrm>
            <a:custGeom>
              <a:avLst/>
              <a:gdLst/>
              <a:ahLst/>
              <a:cxnLst/>
              <a:rect r="r" b="b" t="t" l="l"/>
              <a:pathLst>
                <a:path h="23417589" w="13962256">
                  <a:moveTo>
                    <a:pt x="13962256" y="392254"/>
                  </a:moveTo>
                  <a:lnTo>
                    <a:pt x="13962256" y="23025334"/>
                  </a:lnTo>
                  <a:cubicBezTo>
                    <a:pt x="13962256" y="23242056"/>
                    <a:pt x="13812422" y="23417589"/>
                    <a:pt x="13627430" y="23417589"/>
                  </a:cubicBezTo>
                  <a:lnTo>
                    <a:pt x="334826" y="23417589"/>
                  </a:lnTo>
                  <a:cubicBezTo>
                    <a:pt x="149835" y="23417589"/>
                    <a:pt x="0" y="23242056"/>
                    <a:pt x="0" y="23025334"/>
                  </a:cubicBezTo>
                  <a:lnTo>
                    <a:pt x="0" y="392254"/>
                  </a:lnTo>
                  <a:cubicBezTo>
                    <a:pt x="0" y="175534"/>
                    <a:pt x="149835" y="0"/>
                    <a:pt x="334826" y="0"/>
                  </a:cubicBezTo>
                  <a:lnTo>
                    <a:pt x="13627430" y="0"/>
                  </a:lnTo>
                  <a:cubicBezTo>
                    <a:pt x="13812422" y="0"/>
                    <a:pt x="13962256" y="175534"/>
                    <a:pt x="13962256" y="392254"/>
                  </a:cubicBezTo>
                  <a:close/>
                </a:path>
              </a:pathLst>
            </a:custGeom>
            <a:blipFill>
              <a:blip r:embed="rId3"/>
              <a:stretch>
                <a:fillRect l="-5906" t="0" r="-5906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518481" y="395522"/>
            <a:ext cx="13191196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0"/>
              </a:lnSpc>
            </a:pPr>
            <a:r>
              <a:rPr lang="en-US" b="true" sz="7500" spc="-351">
                <a:solidFill>
                  <a:srgbClr val="424242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Concl</a:t>
            </a:r>
            <a:r>
              <a:rPr lang="en-US" b="true" sz="7500" spc="-351">
                <a:solidFill>
                  <a:srgbClr val="424242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6773" y="2051223"/>
            <a:ext cx="10802746" cy="6401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424242"/>
                </a:solidFill>
                <a:latin typeface="Poppins"/>
                <a:ea typeface="Poppins"/>
                <a:cs typeface="Poppins"/>
                <a:sym typeface="Poppins"/>
              </a:rPr>
              <a:t>Data Warehousing integrates </a:t>
            </a:r>
            <a:r>
              <a:rPr lang="en-US" sz="2600">
                <a:solidFill>
                  <a:srgbClr val="424242"/>
                </a:solidFill>
                <a:latin typeface="Poppins"/>
                <a:ea typeface="Poppins"/>
                <a:cs typeface="Poppins"/>
                <a:sym typeface="Poppins"/>
              </a:rPr>
              <a:t>data from multiple sources into a centralized repository for efficient storage and analysis.</a:t>
            </a:r>
          </a:p>
          <a:p>
            <a:pPr algn="l">
              <a:lnSpc>
                <a:spcPts val="3640"/>
              </a:lnSpc>
            </a:pP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424242"/>
                </a:solidFill>
                <a:latin typeface="Poppins"/>
                <a:ea typeface="Poppins"/>
                <a:cs typeface="Poppins"/>
                <a:sym typeface="Poppins"/>
              </a:rPr>
              <a:t>ETL ensures data is accurate, consistent, and ready for business intelligence applications.</a:t>
            </a:r>
          </a:p>
          <a:p>
            <a:pPr algn="l">
              <a:lnSpc>
                <a:spcPts val="3640"/>
              </a:lnSpc>
            </a:pP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424242"/>
                </a:solidFill>
                <a:latin typeface="Poppins"/>
                <a:ea typeface="Poppins"/>
                <a:cs typeface="Poppins"/>
                <a:sym typeface="Poppins"/>
              </a:rPr>
              <a:t>OLAP and Business Intelligence enable fast analysis, interactive reporting, and data-driven decision-making.</a:t>
            </a:r>
          </a:p>
          <a:p>
            <a:pPr algn="l">
              <a:lnSpc>
                <a:spcPts val="3640"/>
              </a:lnSpc>
            </a:pP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424242"/>
                </a:solidFill>
                <a:latin typeface="Poppins"/>
                <a:ea typeface="Poppins"/>
                <a:cs typeface="Poppins"/>
                <a:sym typeface="Poppins"/>
              </a:rPr>
              <a:t>Amazon uses these technologies to optimize inventory, improve customer satisfaction, increase operational efficiency, and drive business growth.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82017" y="3667268"/>
            <a:ext cx="11923966" cy="2622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60"/>
              </a:lnSpc>
            </a:pPr>
            <a:r>
              <a:rPr lang="en-US" sz="12023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 very much!</a:t>
            </a:r>
          </a:p>
        </p:txBody>
      </p:sp>
      <p:grpSp>
        <p:nvGrpSpPr>
          <p:cNvPr name="Group 3" id="3"/>
          <p:cNvGrpSpPr/>
          <p:nvPr/>
        </p:nvGrpSpPr>
        <p:grpSpPr>
          <a:xfrm rot="-1977180">
            <a:off x="8240278" y="-1048417"/>
            <a:ext cx="12791303" cy="9442304"/>
            <a:chOff x="0" y="0"/>
            <a:chExt cx="17055071" cy="125897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055085" cy="12589764"/>
            </a:xfrm>
            <a:custGeom>
              <a:avLst/>
              <a:gdLst/>
              <a:ahLst/>
              <a:cxnLst/>
              <a:rect r="r" b="b" t="t" l="l"/>
              <a:pathLst>
                <a:path h="12589764" w="17055085">
                  <a:moveTo>
                    <a:pt x="0" y="0"/>
                  </a:moveTo>
                  <a:lnTo>
                    <a:pt x="17055085" y="0"/>
                  </a:lnTo>
                  <a:lnTo>
                    <a:pt x="17055085" y="12589764"/>
                  </a:lnTo>
                  <a:lnTo>
                    <a:pt x="0" y="12589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-32" r="0" b="-3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1977180">
            <a:off x="-3778548" y="1982057"/>
            <a:ext cx="12791303" cy="9442304"/>
            <a:chOff x="0" y="0"/>
            <a:chExt cx="17055071" cy="125897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055085" cy="12589764"/>
            </a:xfrm>
            <a:custGeom>
              <a:avLst/>
              <a:gdLst/>
              <a:ahLst/>
              <a:cxnLst/>
              <a:rect r="r" b="b" t="t" l="l"/>
              <a:pathLst>
                <a:path h="12589764" w="17055085">
                  <a:moveTo>
                    <a:pt x="0" y="0"/>
                  </a:moveTo>
                  <a:lnTo>
                    <a:pt x="17055085" y="0"/>
                  </a:lnTo>
                  <a:lnTo>
                    <a:pt x="17055085" y="12589764"/>
                  </a:lnTo>
                  <a:lnTo>
                    <a:pt x="0" y="12589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-32" r="0" b="-32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DAHFG7MvSkc</dc:identifier>
  <dcterms:modified xsi:type="dcterms:W3CDTF">2011-08-01T06:04:30Z</dcterms:modified>
  <cp:revision>1</cp:revision>
  <dc:title>DM PPT.pptx</dc:title>
</cp:coreProperties>
</file>